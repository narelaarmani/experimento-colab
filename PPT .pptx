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mWK0TQdyvp6b+XA9bEp0NyEsX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Presentamos el experimento colaborativo de Feature Engineering intra-mes: comparar variables creadas manualmente contra las que genera un algoritmo genético.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55cb9ca0f_4_0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f55cb9ca0f_4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Tres códigos idénticos salvo la etapa de FE. Dos grupos que evalúan en meses distintos: A sobre el mes oculto de Kaggle, B sobre julio que tiene la verdad. En B la validación es mayo, distinta del test, así que no hay sesgo optimista.</a:t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 el mes oculto de Kaggle el genético puro es el más bajo. El manual tiene el pico más alto y el combinado es el más regular a lo largo de los cortes.</a:t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Prueba directa: cuando las dos familias compiten en el mismo modelo (Código C, Grupo A), las manuales se llevan más Gain que las genéticas, en las 5 semillas. Coincide con Kaggle.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Cierre honesto: esperábamos que el genético ganara y los datos mostraron lo contrario. Eso es exactamente lo que valora la materia.</a:t>
            </a:r>
            <a:endParaRPr/>
          </a:p>
        </p:txBody>
      </p:sp>
      <p:sp>
        <p:nvSpPr>
          <p:cNvPr id="85" name="Google Shape;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Cierre y preguntas.</a:t>
            </a:r>
            <a:endParaRPr/>
          </a:p>
        </p:txBody>
      </p:sp>
      <p:sp>
        <p:nvSpPr>
          <p:cNvPr id="101" name="Google Shape;1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 Engineering intra-mes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¿Variables manuales o genéticas?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Experimento Colaborativo · Mineria de Datos · ITBA 2026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96385" y="57185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A: Narela · Mi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lagros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55cb9ca0f_4_0"/>
          <p:cNvSpPr txBox="1"/>
          <p:nvPr/>
        </p:nvSpPr>
        <p:spPr>
          <a:xfrm>
            <a:off x="274700" y="581167"/>
            <a:ext cx="6171300" cy="25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¿Qué son?</a:t>
            </a:r>
            <a:endParaRPr b="1" i="0" sz="1700" u="none" cap="none" strike="noStrike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Char char="●"/>
            </a:pPr>
            <a:r>
              <a:rPr b="0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Técnica de optimización inspirada en la evolución natural de Darwin.</a:t>
            </a:r>
            <a:endParaRPr b="0" i="0" sz="1500" u="none" cap="none" strike="noStrike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Char char="●"/>
            </a:pPr>
            <a:r>
              <a:rPr b="0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Permiten encontrar buenas soluciones cuando el problema tiene muchísimas combinaciones posibles.</a:t>
            </a:r>
            <a:endParaRPr b="0" i="0" sz="1500" u="none" cap="none" strike="noStrike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Char char="●"/>
            </a:pPr>
            <a:r>
              <a:rPr b="0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 Data Science suelen utilizarse para optimizar modelos, seleccionar variables o generar nuevas características (feature engineering).</a:t>
            </a:r>
            <a:endParaRPr b="0" i="0" sz="1500" u="none" cap="none" strike="noStrike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" name="Google Shape;25;g3f55cb9ca0f_4_0"/>
          <p:cNvSpPr txBox="1"/>
          <p:nvPr/>
        </p:nvSpPr>
        <p:spPr>
          <a:xfrm>
            <a:off x="274700" y="4110567"/>
            <a:ext cx="9964800" cy="25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¿Cómo funcionan?</a:t>
            </a:r>
            <a:endParaRPr b="1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Arial"/>
              <a:buAutoNum type="arabicPeriod"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Población inicial:</a:t>
            </a:r>
            <a:r>
              <a:rPr b="0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 se generan varias soluciones posibles.</a:t>
            </a:r>
            <a:endParaRPr b="0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Arial"/>
              <a:buAutoNum type="arabicPeriod"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Evaluación (Fitness):</a:t>
            </a:r>
            <a:r>
              <a:rPr b="0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 cada solución se mide según qué tan bien resuelve el problema.</a:t>
            </a:r>
            <a:endParaRPr b="0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Arial"/>
              <a:buAutoNum type="arabicPeriod"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Selección:</a:t>
            </a:r>
            <a:r>
              <a:rPr b="0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 se conservan las soluciones con mejor desempeño.</a:t>
            </a:r>
            <a:endParaRPr b="0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Arial"/>
              <a:buAutoNum type="arabicPeriod"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Cruce (Crossover):</a:t>
            </a:r>
            <a:r>
              <a:rPr b="0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 se combinan las mejores soluciones para crear nuevas.</a:t>
            </a:r>
            <a:endParaRPr b="0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Arial"/>
              <a:buAutoNum type="arabicPeriod"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Mutación:</a:t>
            </a:r>
            <a:r>
              <a:rPr b="0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 se realizan pequeños cambios aleatorios para explorar alternativas y evitar quedar atrapados en un óptimo local.</a:t>
            </a:r>
            <a:endParaRPr b="0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Arial"/>
              <a:buAutoNum type="arabicPeriod"/>
            </a:pPr>
            <a:r>
              <a:rPr b="1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Repetición:</a:t>
            </a:r>
            <a:r>
              <a:rPr b="0" i="0" lang="en-US" sz="1500" u="none" cap="none" strike="noStrike">
                <a:solidFill>
                  <a:srgbClr val="1E276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 el proceso continúa durante varias generaciones hasta obtener la mejor solución encontrada.</a:t>
            </a:r>
            <a:endParaRPr b="0" i="0" sz="1500" u="none" cap="none" strike="noStrike">
              <a:solidFill>
                <a:srgbClr val="1E2761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6" name="Google Shape;26;g3f55cb9ca0f_4_0"/>
          <p:cNvPicPr preferRelativeResize="0"/>
          <p:nvPr/>
        </p:nvPicPr>
        <p:blipFill rotWithShape="1">
          <a:blip r:embed="rId3">
            <a:alphaModFix/>
          </a:blip>
          <a:srcRect b="1970" l="4862" r="0" t="0"/>
          <a:stretch/>
        </p:blipFill>
        <p:spPr>
          <a:xfrm>
            <a:off x="7259550" y="237625"/>
            <a:ext cx="4293649" cy="31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Diseño experimental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77240" y="1572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417320" y="15727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233"/>
                </a:solidFill>
                <a:latin typeface="Cambria"/>
                <a:ea typeface="Cambria"/>
                <a:cs typeface="Cambria"/>
                <a:sym typeface="Cambria"/>
              </a:rPr>
              <a:t>Manual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04672" y="22860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Variables a mano (dominio + bibliografía)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325112" y="1329325"/>
            <a:ext cx="3566100" cy="1965900"/>
          </a:xfrm>
          <a:prstGeom prst="roundRect">
            <a:avLst>
              <a:gd fmla="val 465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553712" y="1572768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53712" y="1572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193792" y="15727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233"/>
                </a:solidFill>
                <a:latin typeface="Cambria"/>
                <a:ea typeface="Cambria"/>
                <a:cs typeface="Cambria"/>
                <a:sym typeface="Cambria"/>
              </a:rPr>
              <a:t>Genético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81144" y="2263138"/>
            <a:ext cx="310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Algoritmo genético genera y selecciona (gen_*)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101584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8330184" y="1572768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330184" y="1572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970264" y="15727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233"/>
                </a:solidFill>
                <a:latin typeface="Cambria"/>
                <a:ea typeface="Cambria"/>
                <a:cs typeface="Cambria"/>
                <a:sym typeface="Cambria"/>
              </a:rPr>
              <a:t>Manual + Genético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357616" y="22860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Ambas familias compiten en el mismo modelo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9103" y="413918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Cada código se corre con 5 semillas </a:t>
            </a:r>
            <a:r>
              <a:rPr b="1" lang="en-US" sz="15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[</a:t>
            </a:r>
            <a:r>
              <a:rPr lang="en-US" sz="15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100927,203807,307261,368521,509987] </a:t>
            </a:r>
            <a:r>
              <a:rPr b="1" i="0" lang="en-US" sz="15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para robustez.</a:t>
            </a:r>
            <a:endParaRPr i="0" sz="1500" u="none" cap="none" strike="noStrike">
              <a:solidFill>
                <a:schemeClr val="accen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65740" y="4800600"/>
            <a:ext cx="5486400" cy="182880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3625" y="5306500"/>
            <a:ext cx="5486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Entrena hasta jul-2021 → predice sep-2021 (mes oculto) → sube a Kaggle.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 en Kaggle · mes oculto (sep-2021)</a:t>
            </a:r>
            <a:endParaRPr b="0" i="0" sz="30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modest-eager-mayer/mnt/outputs/ganancia_kaggle_v2.png" id="57" name="Google Shape;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64008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457200" y="5897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Ganancia por corte de envíos, promedio de 5</a:t>
            </a:r>
            <a:r>
              <a:rPr i="1"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semillas por código.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13232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Qué se 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132320" y="2121408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498080" y="20116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 · Manual: </a:t>
            </a:r>
            <a:r>
              <a:rPr b="0" i="0" lang="en-US" sz="15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pico 443.6 — el más alto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132320" y="2898648"/>
            <a:ext cx="201168" cy="20116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498080" y="278892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B · Genético: </a:t>
            </a:r>
            <a:r>
              <a:rPr b="0" i="0" lang="en-US" sz="15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pico 440.4 — el más bajo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132320" y="3675888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498080" y="356616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 · Combinado: </a:t>
            </a:r>
            <a:r>
              <a:rPr b="0" i="0" lang="en-US" sz="15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promedio 437.4 — el más estable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32320" y="470916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1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genético por sí solo NO supera al manual.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¿Qué variables usa el modelo? · Código 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modest-eager-mayer/mnt/outputs/feature_importance_C_grupoA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64008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457200" y="5897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 importance del modelo final · Grupo A, 5 semillas (sep-2021).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132320" y="1554480"/>
            <a:ext cx="2240280" cy="1737360"/>
          </a:xfrm>
          <a:prstGeom prst="roundRect">
            <a:avLst>
              <a:gd fmla="val 5263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132320" y="1783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15.3%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132320" y="25603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Gain · Manual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464040" y="1554480"/>
            <a:ext cx="2240280" cy="1737360"/>
          </a:xfrm>
          <a:prstGeom prst="roundRect">
            <a:avLst>
              <a:gd fmla="val 5263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464040" y="1783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2980B9"/>
                </a:solidFill>
                <a:latin typeface="Cambria"/>
                <a:ea typeface="Cambria"/>
                <a:cs typeface="Cambria"/>
                <a:sym typeface="Cambria"/>
              </a:rPr>
              <a:t>11.5%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464040" y="25603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Gain · Genética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132320" y="356616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 las 5 corridas, sin excepción, </a:t>
            </a:r>
            <a:r>
              <a:rPr b="1" i="0" lang="en-US" sz="1600" u="none" cap="none" strike="noStrike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el modelo se apoya más en las manuales</a:t>
            </a:r>
            <a:r>
              <a:rPr b="0" i="0" lang="en-US" sz="1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que en las genéticas (también por variable: 0.18 vs 0.16).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554480" y="169164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hipótesis no se cumple: el algoritmo genético por sí solo no supera al Feature Engineering manual.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82296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554480" y="306324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variables genéticas aportan (~11% del Gain), pero el conocimiento del dominio sigue pesando más.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554480" y="443484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mejor resultado es combinar ambas: el Código C es el más estable en ganancia.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mbria"/>
              <a:buNone/>
            </a:pPr>
            <a:r>
              <a:rPr b="1" i="1" lang="en-US" sz="2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"La evidencia perforó la creencia."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748985" y="19864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Feature Engineering intra-mes · Manual vs Genético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Grupo A: Narela · Mil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agros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2026-07-18T18:38:02Z</dcterms:created>
  <dc:creator>PptxGenJS</dc:creator>
</cp:coreProperties>
</file>